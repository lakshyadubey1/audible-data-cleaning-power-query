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60" r:id="rId2"/>
    <p:sldId id="261" r:id="rId3"/>
    <p:sldId id="262" r:id="rId4"/>
    <p:sldId id="263" r:id="rId5"/>
    <p:sldId id="264" r:id="rId6"/>
    <p:sldId id="276" r:id="rId7"/>
    <p:sldId id="265" r:id="rId8"/>
    <p:sldId id="266" r:id="rId9"/>
    <p:sldId id="277" r:id="rId10"/>
    <p:sldId id="267" r:id="rId11"/>
    <p:sldId id="268" r:id="rId12"/>
    <p:sldId id="269" r:id="rId13"/>
    <p:sldId id="27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27" autoAdjust="0"/>
    <p:restoredTop sz="95861" autoAdjust="0"/>
  </p:normalViewPr>
  <p:slideViewPr>
    <p:cSldViewPr snapToGrid="0" snapToObjects="1">
      <p:cViewPr varScale="1">
        <p:scale>
          <a:sx n="98" d="100"/>
          <a:sy n="98" d="100"/>
        </p:scale>
        <p:origin x="1224" y="3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 snapToObjects="1">
      <p:cViewPr varScale="1">
        <p:scale>
          <a:sx n="77" d="100"/>
          <a:sy n="77" d="100"/>
        </p:scale>
        <p:origin x="3096" y="51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3F8FB3-B722-4390-A303-F8CD7AFE71BF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33D02A-9113-42CC-8627-349E0C896F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09249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33D02A-9113-42CC-8627-349E0C896F0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86765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33D02A-9113-42CC-8627-349E0C896F0B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84462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hyperlink" Target="http://www.linkedin.com/in/lakshyadubey45" TargetMode="External"/><Relationship Id="rId7" Type="http://schemas.openxmlformats.org/officeDocument/2006/relationships/image" Target="../media/image20.png"/><Relationship Id="rId2" Type="http://schemas.openxmlformats.org/officeDocument/2006/relationships/hyperlink" Target="https://github.com/lakshyadubey1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E79150E-785B-68EB-531F-D55F376A5140}"/>
              </a:ext>
            </a:extLst>
          </p:cNvPr>
          <p:cNvCxnSpPr>
            <a:cxnSpLocks/>
          </p:cNvCxnSpPr>
          <p:nvPr/>
        </p:nvCxnSpPr>
        <p:spPr>
          <a:xfrm flipV="1">
            <a:off x="213691" y="144117"/>
            <a:ext cx="8731525" cy="34787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6721551-CB09-42A8-E0EF-A2DA92A4D65D}"/>
              </a:ext>
            </a:extLst>
          </p:cNvPr>
          <p:cNvCxnSpPr>
            <a:cxnSpLocks/>
          </p:cNvCxnSpPr>
          <p:nvPr/>
        </p:nvCxnSpPr>
        <p:spPr>
          <a:xfrm flipV="1">
            <a:off x="213690" y="6617804"/>
            <a:ext cx="8731526" cy="34787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2E9C3F-9C2B-C166-21AE-932235F32EE0}"/>
              </a:ext>
            </a:extLst>
          </p:cNvPr>
          <p:cNvCxnSpPr/>
          <p:nvPr/>
        </p:nvCxnSpPr>
        <p:spPr>
          <a:xfrm>
            <a:off x="213690" y="178904"/>
            <a:ext cx="0" cy="6473687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0BB59C2-3698-4916-8DF7-FE064BEB62D0}"/>
              </a:ext>
            </a:extLst>
          </p:cNvPr>
          <p:cNvCxnSpPr/>
          <p:nvPr/>
        </p:nvCxnSpPr>
        <p:spPr>
          <a:xfrm>
            <a:off x="8945216" y="144117"/>
            <a:ext cx="0" cy="6473687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AD1598E0-6C00-0128-B66C-09222200A1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104" y="385370"/>
            <a:ext cx="1869118" cy="109317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385C7E6-BBED-6951-4B7C-D7FABC11B235}"/>
              </a:ext>
            </a:extLst>
          </p:cNvPr>
          <p:cNvSpPr txBox="1"/>
          <p:nvPr/>
        </p:nvSpPr>
        <p:spPr>
          <a:xfrm>
            <a:off x="572874" y="1891293"/>
            <a:ext cx="82058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latin typeface="Algerian" panose="04020705040A02060702" pitchFamily="82" charset="0"/>
              </a:rPr>
              <a:t>Audible Data Cleaning Project</a:t>
            </a:r>
            <a:endParaRPr lang="en-IN" sz="3600" b="1" dirty="0">
              <a:latin typeface="Algerian" panose="04020705040A02060702" pitchFamily="8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A6F24E3-FA52-0FD7-79C4-3CD23891186C}"/>
              </a:ext>
            </a:extLst>
          </p:cNvPr>
          <p:cNvSpPr txBox="1"/>
          <p:nvPr/>
        </p:nvSpPr>
        <p:spPr>
          <a:xfrm>
            <a:off x="572874" y="3415747"/>
            <a:ext cx="57497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Bahnschrift SemiLight" panose="020B0502040204020203" pitchFamily="34" charset="0"/>
              </a:rPr>
              <a:t>Data </a:t>
            </a:r>
            <a:r>
              <a:rPr lang="en-IN" sz="2000" dirty="0">
                <a:latin typeface="Bahnschrift SemiLight" panose="020B0502040204020203" pitchFamily="34" charset="0"/>
              </a:rPr>
              <a:t>Cleaning</a:t>
            </a:r>
            <a:r>
              <a:rPr lang="en-IN" dirty="0"/>
              <a:t> </a:t>
            </a:r>
            <a:r>
              <a:rPr lang="en-IN" sz="2000" dirty="0">
                <a:latin typeface="Bahnschrift SemiLight" panose="020B0502040204020203" pitchFamily="34" charset="0"/>
              </a:rPr>
              <a:t>and</a:t>
            </a:r>
            <a:r>
              <a:rPr lang="en-IN" dirty="0"/>
              <a:t> </a:t>
            </a:r>
            <a:r>
              <a:rPr lang="en-IN" sz="2000" dirty="0">
                <a:latin typeface="Bahnschrift SemiLight" panose="020B0502040204020203" pitchFamily="34" charset="0"/>
              </a:rPr>
              <a:t>Standardization</a:t>
            </a:r>
            <a:r>
              <a:rPr lang="en-IN" dirty="0"/>
              <a:t> </a:t>
            </a:r>
            <a:r>
              <a:rPr lang="en-GB" sz="2000" dirty="0">
                <a:latin typeface="Bahnschrift SemiLight" panose="020B0502040204020203" pitchFamily="34" charset="0"/>
              </a:rPr>
              <a:t>Using </a:t>
            </a:r>
          </a:p>
          <a:p>
            <a:r>
              <a:rPr lang="en-GB" sz="2000" dirty="0">
                <a:latin typeface="Bahnschrift SemiLight" panose="020B0502040204020203" pitchFamily="34" charset="0"/>
              </a:rPr>
              <a:t>Power Query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CE9C9E4-E7F0-69E0-5F5A-E897415D7E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6442" y="2907196"/>
            <a:ext cx="2852304" cy="3134139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EB7DA986-D5B4-57DE-CB5A-D962FEF17D04}"/>
              </a:ext>
            </a:extLst>
          </p:cNvPr>
          <p:cNvSpPr txBox="1"/>
          <p:nvPr/>
        </p:nvSpPr>
        <p:spPr>
          <a:xfrm>
            <a:off x="572874" y="4123633"/>
            <a:ext cx="42277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>
                <a:latin typeface="Bahnschrift SemiLight" panose="020B0502040204020203" pitchFamily="34" charset="0"/>
              </a:defRPr>
            </a:lvl1pPr>
          </a:lstStyle>
          <a:p>
            <a:r>
              <a:rPr lang="en-IN" dirty="0"/>
              <a:t>Presented by: Lakshya Dubey</a:t>
            </a:r>
          </a:p>
        </p:txBody>
      </p:sp>
    </p:spTree>
    <p:extLst>
      <p:ext uri="{BB962C8B-B14F-4D97-AF65-F5344CB8AC3E}">
        <p14:creationId xmlns:p14="http://schemas.microsoft.com/office/powerpoint/2010/main" val="2594602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ECF0C-50BF-9FFC-906E-D8DB6CC7B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397F7A7-7DBB-4445-2642-6E3A92F75124}"/>
              </a:ext>
            </a:extLst>
          </p:cNvPr>
          <p:cNvCxnSpPr>
            <a:cxnSpLocks/>
          </p:cNvCxnSpPr>
          <p:nvPr/>
        </p:nvCxnSpPr>
        <p:spPr>
          <a:xfrm flipV="1">
            <a:off x="213691" y="144117"/>
            <a:ext cx="8731525" cy="34787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C7D02E7-5868-D32B-97CD-9D693133277A}"/>
              </a:ext>
            </a:extLst>
          </p:cNvPr>
          <p:cNvCxnSpPr>
            <a:cxnSpLocks/>
          </p:cNvCxnSpPr>
          <p:nvPr/>
        </p:nvCxnSpPr>
        <p:spPr>
          <a:xfrm flipV="1">
            <a:off x="213690" y="6617804"/>
            <a:ext cx="8731526" cy="34787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D92B3F0-A0C7-3531-A26D-81C0BF509E0F}"/>
              </a:ext>
            </a:extLst>
          </p:cNvPr>
          <p:cNvCxnSpPr/>
          <p:nvPr/>
        </p:nvCxnSpPr>
        <p:spPr>
          <a:xfrm>
            <a:off x="213690" y="178904"/>
            <a:ext cx="0" cy="6473687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F8713EA-828B-F9BF-6737-15005CF8A8AF}"/>
              </a:ext>
            </a:extLst>
          </p:cNvPr>
          <p:cNvCxnSpPr/>
          <p:nvPr/>
        </p:nvCxnSpPr>
        <p:spPr>
          <a:xfrm>
            <a:off x="8945216" y="144117"/>
            <a:ext cx="0" cy="6473687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DEC9067A-4631-6E04-3184-43A11338B6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1191" y="215349"/>
            <a:ext cx="1869118" cy="109317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9470183-21DF-DCCC-7551-20167DA0836E}"/>
              </a:ext>
            </a:extLst>
          </p:cNvPr>
          <p:cNvSpPr txBox="1"/>
          <p:nvPr/>
        </p:nvSpPr>
        <p:spPr>
          <a:xfrm>
            <a:off x="1220822" y="749189"/>
            <a:ext cx="3759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Aptos" panose="020B0004020202020204" pitchFamily="34" charset="0"/>
              </a:rPr>
              <a:t>Project Overview</a:t>
            </a:r>
            <a:r>
              <a:rPr lang="en-GB" sz="3200" b="1" dirty="0">
                <a:latin typeface="Aptos" panose="020B0004020202020204" pitchFamily="34" charset="0"/>
              </a:rPr>
              <a:t> </a:t>
            </a:r>
            <a:endParaRPr lang="en-IN" sz="3200" b="1" dirty="0">
              <a:latin typeface="Aptos" panose="020B00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7B43D7-D370-6205-4975-FB7804CE2499}"/>
              </a:ext>
            </a:extLst>
          </p:cNvPr>
          <p:cNvSpPr txBox="1"/>
          <p:nvPr/>
        </p:nvSpPr>
        <p:spPr>
          <a:xfrm>
            <a:off x="1220822" y="1489465"/>
            <a:ext cx="6151521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latin typeface="Bahnschrift SemiLight" panose="020B0502040204020203" pitchFamily="34" charset="0"/>
              </a:rPr>
              <a:t>· </a:t>
            </a:r>
            <a:r>
              <a:rPr lang="en-GB" dirty="0">
                <a:latin typeface="Bahnschrift SemiLight" panose="020B0502040204020203" pitchFamily="34" charset="0"/>
              </a:rPr>
              <a:t>The dataset contains audiobook details such as:</a:t>
            </a:r>
          </a:p>
          <a:p>
            <a:r>
              <a:rPr lang="en-GB" dirty="0">
                <a:latin typeface="Bahnschrift SemiLight" panose="020B0502040204020203" pitchFamily="34" charset="0"/>
              </a:rPr>
              <a:t>    </a:t>
            </a:r>
            <a:r>
              <a:rPr lang="en-GB" b="1" dirty="0">
                <a:latin typeface="Bahnschrift SemiLight" panose="020B0502040204020203" pitchFamily="34" charset="0"/>
              </a:rPr>
              <a:t>· </a:t>
            </a:r>
            <a:r>
              <a:rPr lang="en-GB" dirty="0">
                <a:latin typeface="Bahnschrift SemiLight" panose="020B0502040204020203" pitchFamily="34" charset="0"/>
              </a:rPr>
              <a:t>Name, Author, Narrator</a:t>
            </a:r>
          </a:p>
          <a:p>
            <a:r>
              <a:rPr lang="en-GB" dirty="0">
                <a:latin typeface="Bahnschrift SemiLight" panose="020B0502040204020203" pitchFamily="34" charset="0"/>
              </a:rPr>
              <a:t>    </a:t>
            </a:r>
            <a:r>
              <a:rPr lang="en-GB" b="1" dirty="0">
                <a:latin typeface="Bahnschrift SemiLight" panose="020B0502040204020203" pitchFamily="34" charset="0"/>
              </a:rPr>
              <a:t>· </a:t>
            </a:r>
            <a:r>
              <a:rPr lang="en-GB" dirty="0">
                <a:latin typeface="Bahnschrift SemiLight" panose="020B0502040204020203" pitchFamily="34" charset="0"/>
              </a:rPr>
              <a:t>Release Date, Language</a:t>
            </a:r>
          </a:p>
          <a:p>
            <a:r>
              <a:rPr lang="en-GB" b="1" dirty="0">
                <a:latin typeface="Bahnschrift SemiLight" panose="020B0502040204020203" pitchFamily="34" charset="0"/>
              </a:rPr>
              <a:t>    · </a:t>
            </a:r>
            <a:r>
              <a:rPr lang="en-GB" dirty="0">
                <a:latin typeface="Bahnschrift SemiLight" panose="020B0502040204020203" pitchFamily="34" charset="0"/>
              </a:rPr>
              <a:t>Duration, Ratings, Price</a:t>
            </a:r>
          </a:p>
          <a:p>
            <a:endParaRPr lang="en-GB" dirty="0">
              <a:latin typeface="Bahnschrift SemiLight" panose="020B0502040204020203" pitchFamily="34" charset="0"/>
            </a:endParaRPr>
          </a:p>
          <a:p>
            <a:r>
              <a:rPr lang="en-GB" sz="2000" b="1" dirty="0">
                <a:latin typeface="Bahnschrift SemiLight" panose="020B0502040204020203" pitchFamily="34" charset="0"/>
              </a:rPr>
              <a:t>· </a:t>
            </a:r>
            <a:r>
              <a:rPr lang="en-GB" dirty="0">
                <a:latin typeface="Bahnschrift SemiLight" panose="020B0502040204020203" pitchFamily="34" charset="0"/>
              </a:rPr>
              <a:t>The objective of this project is to:</a:t>
            </a:r>
          </a:p>
          <a:p>
            <a:r>
              <a:rPr lang="en-GB" dirty="0">
                <a:latin typeface="Bahnschrift SemiLight" panose="020B0502040204020203" pitchFamily="34" charset="0"/>
              </a:rPr>
              <a:t>    </a:t>
            </a:r>
            <a:r>
              <a:rPr lang="en-GB" b="1" dirty="0">
                <a:latin typeface="Bahnschrift SemiLight" panose="020B0502040204020203" pitchFamily="34" charset="0"/>
              </a:rPr>
              <a:t>· </a:t>
            </a:r>
            <a:r>
              <a:rPr lang="en-GB" dirty="0">
                <a:latin typeface="Bahnschrift SemiLight" panose="020B0502040204020203" pitchFamily="34" charset="0"/>
              </a:rPr>
              <a:t>Clean inconsistent text values</a:t>
            </a:r>
          </a:p>
          <a:p>
            <a:r>
              <a:rPr lang="en-GB" b="1" dirty="0">
                <a:latin typeface="Bahnschrift SemiLight" panose="020B0502040204020203" pitchFamily="34" charset="0"/>
              </a:rPr>
              <a:t>    · </a:t>
            </a:r>
            <a:r>
              <a:rPr lang="en-GB" dirty="0">
                <a:latin typeface="Bahnschrift SemiLight" panose="020B0502040204020203" pitchFamily="34" charset="0"/>
              </a:rPr>
              <a:t>Standardize formats</a:t>
            </a:r>
          </a:p>
          <a:p>
            <a:r>
              <a:rPr lang="en-GB" b="1" dirty="0">
                <a:latin typeface="Bahnschrift SemiLight" panose="020B0502040204020203" pitchFamily="34" charset="0"/>
              </a:rPr>
              <a:t>    · </a:t>
            </a:r>
            <a:r>
              <a:rPr lang="en-GB" dirty="0">
                <a:latin typeface="Bahnschrift SemiLight" panose="020B0502040204020203" pitchFamily="34" charset="0"/>
              </a:rPr>
              <a:t>Convert columns into analysis-ready data types</a:t>
            </a:r>
          </a:p>
          <a:p>
            <a:endParaRPr lang="en-GB" dirty="0">
              <a:latin typeface="Bahnschrift SemiLight" panose="020B0502040204020203" pitchFamily="34" charset="0"/>
            </a:endParaRPr>
          </a:p>
          <a:p>
            <a:r>
              <a:rPr lang="en-GB" sz="2000" b="1" dirty="0">
                <a:latin typeface="Bahnschrift SemiLight" panose="020B0502040204020203" pitchFamily="34" charset="0"/>
              </a:rPr>
              <a:t>·</a:t>
            </a:r>
            <a:r>
              <a:rPr lang="en-GB" b="1" dirty="0">
                <a:latin typeface="Bahnschrift SemiLight" panose="020B0502040204020203" pitchFamily="34" charset="0"/>
              </a:rPr>
              <a:t> </a:t>
            </a:r>
            <a:r>
              <a:rPr lang="en-GB" dirty="0">
                <a:latin typeface="Bahnschrift SemiLight" panose="020B0502040204020203" pitchFamily="34" charset="0"/>
              </a:rPr>
              <a:t>All transformations were performed using Power  Query.</a:t>
            </a:r>
            <a:r>
              <a:rPr lang="en-IN" dirty="0">
                <a:latin typeface="Bahnschrift SemiLight" panose="020B0502040204020203" pitchFamily="34" charset="0"/>
              </a:rPr>
              <a:t> 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A1E9F50-F2E0-CAF0-0155-E663F8F6DB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369" y="4981947"/>
            <a:ext cx="8020169" cy="961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298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58F6C-9647-55A2-57BD-B7754CD93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FF1EEAC-0D0E-225F-8074-91F6E59A7813}"/>
              </a:ext>
            </a:extLst>
          </p:cNvPr>
          <p:cNvCxnSpPr>
            <a:cxnSpLocks/>
          </p:cNvCxnSpPr>
          <p:nvPr/>
        </p:nvCxnSpPr>
        <p:spPr>
          <a:xfrm flipV="1">
            <a:off x="213691" y="144117"/>
            <a:ext cx="8731525" cy="34787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AA0FEC8-9032-9489-5CD0-63C0A194279A}"/>
              </a:ext>
            </a:extLst>
          </p:cNvPr>
          <p:cNvCxnSpPr>
            <a:cxnSpLocks/>
          </p:cNvCxnSpPr>
          <p:nvPr/>
        </p:nvCxnSpPr>
        <p:spPr>
          <a:xfrm flipV="1">
            <a:off x="213690" y="6617804"/>
            <a:ext cx="8731526" cy="34787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1D87A4C-A3D4-1838-84C3-F46D84BFF8DD}"/>
              </a:ext>
            </a:extLst>
          </p:cNvPr>
          <p:cNvCxnSpPr/>
          <p:nvPr/>
        </p:nvCxnSpPr>
        <p:spPr>
          <a:xfrm>
            <a:off x="213690" y="178904"/>
            <a:ext cx="0" cy="6473687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119AB5B-331B-92AB-B30F-0D29B4255798}"/>
              </a:ext>
            </a:extLst>
          </p:cNvPr>
          <p:cNvCxnSpPr/>
          <p:nvPr/>
        </p:nvCxnSpPr>
        <p:spPr>
          <a:xfrm>
            <a:off x="8945216" y="144117"/>
            <a:ext cx="0" cy="6473687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2B4D4118-FAF4-76C8-DC76-0D8B5FCFA5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1191" y="205409"/>
            <a:ext cx="1869118" cy="109317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ACEEB50-835C-FD4A-6A9F-1D2C5507DC8D}"/>
              </a:ext>
            </a:extLst>
          </p:cNvPr>
          <p:cNvSpPr txBox="1"/>
          <p:nvPr/>
        </p:nvSpPr>
        <p:spPr>
          <a:xfrm>
            <a:off x="671513" y="795338"/>
            <a:ext cx="6374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1. </a:t>
            </a:r>
            <a:r>
              <a:rPr lang="en-GB" dirty="0"/>
              <a:t>Standardize the name column to ensure consistent title casing.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FE56D3-B8FE-9106-5981-7509B87020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541" y="1940925"/>
            <a:ext cx="3018028" cy="298691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6F5D4A1-FB83-8A69-23C7-093F0BB8ED18}"/>
              </a:ext>
            </a:extLst>
          </p:cNvPr>
          <p:cNvSpPr txBox="1"/>
          <p:nvPr/>
        </p:nvSpPr>
        <p:spPr>
          <a:xfrm>
            <a:off x="5617434" y="2977485"/>
            <a:ext cx="3108274" cy="9194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dk1"/>
                </a:solidFill>
                <a:latin typeface="Bahnschrift SemiLight" panose="020B0502040204020203" pitchFamily="34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GB" dirty="0"/>
              <a:t>Applied “Capitalize Each Word” from Format to ensure consistent title casing.</a:t>
            </a:r>
            <a:endParaRPr lang="en-IN" dirty="0"/>
          </a:p>
        </p:txBody>
      </p:sp>
      <p:sp>
        <p:nvSpPr>
          <p:cNvPr id="24" name="Arrow: Left 23">
            <a:extLst>
              <a:ext uri="{FF2B5EF4-FFF2-40B4-BE49-F238E27FC236}">
                <a16:creationId xmlns:a16="http://schemas.microsoft.com/office/drawing/2014/main" id="{F9767D52-7475-4B47-494B-73ED567B7A6A}"/>
              </a:ext>
            </a:extLst>
          </p:cNvPr>
          <p:cNvSpPr/>
          <p:nvPr/>
        </p:nvSpPr>
        <p:spPr>
          <a:xfrm>
            <a:off x="4579453" y="3351009"/>
            <a:ext cx="771525" cy="135617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9658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AC636-6B13-1E34-B8B1-0B8E63D8E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E34BBB0-4BAE-10EE-54D9-AADD34C7133D}"/>
              </a:ext>
            </a:extLst>
          </p:cNvPr>
          <p:cNvCxnSpPr>
            <a:cxnSpLocks/>
          </p:cNvCxnSpPr>
          <p:nvPr/>
        </p:nvCxnSpPr>
        <p:spPr>
          <a:xfrm flipV="1">
            <a:off x="213691" y="144117"/>
            <a:ext cx="8731525" cy="34787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D5DA96B-6783-DAB2-BB8F-D530336DA2DA}"/>
              </a:ext>
            </a:extLst>
          </p:cNvPr>
          <p:cNvCxnSpPr>
            <a:cxnSpLocks/>
          </p:cNvCxnSpPr>
          <p:nvPr/>
        </p:nvCxnSpPr>
        <p:spPr>
          <a:xfrm flipV="1">
            <a:off x="213690" y="6617804"/>
            <a:ext cx="8731526" cy="34787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21529D3-2C4F-D7F9-4873-8CC8FF66E08F}"/>
              </a:ext>
            </a:extLst>
          </p:cNvPr>
          <p:cNvCxnSpPr/>
          <p:nvPr/>
        </p:nvCxnSpPr>
        <p:spPr>
          <a:xfrm>
            <a:off x="213690" y="149720"/>
            <a:ext cx="0" cy="6473687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C64B962-9A0B-14E4-B482-DA65BF511120}"/>
              </a:ext>
            </a:extLst>
          </p:cNvPr>
          <p:cNvCxnSpPr/>
          <p:nvPr/>
        </p:nvCxnSpPr>
        <p:spPr>
          <a:xfrm>
            <a:off x="8945216" y="144117"/>
            <a:ext cx="0" cy="6473687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73B6FAF7-0CBC-ED77-FBB2-A7256EE01F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1191" y="205409"/>
            <a:ext cx="1869118" cy="109317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4FEC124-D4D3-315E-A112-F63501F9AD4D}"/>
              </a:ext>
            </a:extLst>
          </p:cNvPr>
          <p:cNvSpPr txBox="1"/>
          <p:nvPr/>
        </p:nvSpPr>
        <p:spPr>
          <a:xfrm>
            <a:off x="485775" y="788791"/>
            <a:ext cx="64865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/>
            </a:lvl1pPr>
          </a:lstStyle>
          <a:p>
            <a:r>
              <a:rPr lang="en-IN" dirty="0"/>
              <a:t>    2. </a:t>
            </a:r>
            <a:r>
              <a:rPr lang="en-GB" dirty="0"/>
              <a:t>Separate combined names in the author column if there are               	multiple authors.</a:t>
            </a:r>
          </a:p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D3E1D8-D10D-2D5E-8741-90732C88788E}"/>
              </a:ext>
            </a:extLst>
          </p:cNvPr>
          <p:cNvSpPr txBox="1"/>
          <p:nvPr/>
        </p:nvSpPr>
        <p:spPr>
          <a:xfrm>
            <a:off x="4858877" y="1661266"/>
            <a:ext cx="3981449" cy="646986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dk1"/>
                </a:solidFill>
                <a:latin typeface="Bahnschrift SemiLight" panose="020B0502040204020203" pitchFamily="34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GB" dirty="0"/>
              <a:t>Removed the prefix “Written by:” before Separating.</a:t>
            </a:r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D20CD02-C6E9-2316-ED5E-1F2DB3DAD3F9}"/>
              </a:ext>
            </a:extLst>
          </p:cNvPr>
          <p:cNvSpPr txBox="1"/>
          <p:nvPr/>
        </p:nvSpPr>
        <p:spPr>
          <a:xfrm>
            <a:off x="697058" y="4617059"/>
            <a:ext cx="3161489" cy="1191816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dk1"/>
                </a:solidFill>
                <a:latin typeface="Bahnschrift SemiLight" panose="020B0502040204020203" pitchFamily="34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GB" dirty="0"/>
              <a:t>Used “Split Column by Delimiter (Comma)” to separate multiple authors into columns.</a:t>
            </a:r>
          </a:p>
        </p:txBody>
      </p:sp>
      <p:sp>
        <p:nvSpPr>
          <p:cNvPr id="24" name="Arrow: Left 23">
            <a:extLst>
              <a:ext uri="{FF2B5EF4-FFF2-40B4-BE49-F238E27FC236}">
                <a16:creationId xmlns:a16="http://schemas.microsoft.com/office/drawing/2014/main" id="{635E9571-30FC-5537-70C4-02A3FA065B82}"/>
              </a:ext>
            </a:extLst>
          </p:cNvPr>
          <p:cNvSpPr/>
          <p:nvPr/>
        </p:nvSpPr>
        <p:spPr>
          <a:xfrm flipH="1">
            <a:off x="4003720" y="5133226"/>
            <a:ext cx="725406" cy="136187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Arrow: Left 27">
            <a:extLst>
              <a:ext uri="{FF2B5EF4-FFF2-40B4-BE49-F238E27FC236}">
                <a16:creationId xmlns:a16="http://schemas.microsoft.com/office/drawing/2014/main" id="{A9476978-CC11-4F20-C970-4E7FA7EC1081}"/>
              </a:ext>
            </a:extLst>
          </p:cNvPr>
          <p:cNvSpPr/>
          <p:nvPr/>
        </p:nvSpPr>
        <p:spPr>
          <a:xfrm>
            <a:off x="3735938" y="1894216"/>
            <a:ext cx="889564" cy="194256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DE39DA74-E148-13D4-4CB4-F4C36D597B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15" y="1573714"/>
            <a:ext cx="2146844" cy="243408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7B3AB39F-0218-58C7-E5D5-CFA98ABEA9C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30" t="4829"/>
          <a:stretch>
            <a:fillRect/>
          </a:stretch>
        </p:blipFill>
        <p:spPr>
          <a:xfrm>
            <a:off x="5019471" y="3194483"/>
            <a:ext cx="3698755" cy="299727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435236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9B9FC-EA96-EB70-AC34-AEDAE01EC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23D399E-8FC5-7F74-5015-77F8A71354B4}"/>
              </a:ext>
            </a:extLst>
          </p:cNvPr>
          <p:cNvCxnSpPr>
            <a:cxnSpLocks/>
          </p:cNvCxnSpPr>
          <p:nvPr/>
        </p:nvCxnSpPr>
        <p:spPr>
          <a:xfrm flipV="1">
            <a:off x="213691" y="144117"/>
            <a:ext cx="8731525" cy="34787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B52D37C-3244-A92D-708E-8A4F6E702252}"/>
              </a:ext>
            </a:extLst>
          </p:cNvPr>
          <p:cNvCxnSpPr>
            <a:cxnSpLocks/>
          </p:cNvCxnSpPr>
          <p:nvPr/>
        </p:nvCxnSpPr>
        <p:spPr>
          <a:xfrm flipV="1">
            <a:off x="213690" y="6617804"/>
            <a:ext cx="8731526" cy="34787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07B3CC5-65C2-6837-7E48-1F1AA65DF7BA}"/>
              </a:ext>
            </a:extLst>
          </p:cNvPr>
          <p:cNvCxnSpPr/>
          <p:nvPr/>
        </p:nvCxnSpPr>
        <p:spPr>
          <a:xfrm>
            <a:off x="213690" y="178904"/>
            <a:ext cx="0" cy="6473687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3924BB1-5F08-8A89-38FD-A81A545793F2}"/>
              </a:ext>
            </a:extLst>
          </p:cNvPr>
          <p:cNvCxnSpPr/>
          <p:nvPr/>
        </p:nvCxnSpPr>
        <p:spPr>
          <a:xfrm>
            <a:off x="8945216" y="144117"/>
            <a:ext cx="0" cy="6473687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101FA462-82CC-3B85-3E57-A042B55CB2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1191" y="205409"/>
            <a:ext cx="1869118" cy="109317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CCD601A-AC93-D932-27A9-D5D7669EEC02}"/>
              </a:ext>
            </a:extLst>
          </p:cNvPr>
          <p:cNvSpPr txBox="1"/>
          <p:nvPr/>
        </p:nvSpPr>
        <p:spPr>
          <a:xfrm>
            <a:off x="228598" y="786234"/>
            <a:ext cx="65512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/>
            </a:lvl1pPr>
          </a:lstStyle>
          <a:p>
            <a:r>
              <a:rPr lang="en-GB" dirty="0"/>
              <a:t>	3. Ensure all entries in the “</a:t>
            </a:r>
            <a:r>
              <a:rPr lang="en-GB" dirty="0" err="1"/>
              <a:t>releasedate</a:t>
            </a:r>
            <a:r>
              <a:rPr lang="en-GB" dirty="0"/>
              <a:t>” column follow a  	 	     consistent date format (DD-MM-YYYY).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069B99-530A-1F9C-803C-E5E0EC669D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0053" y="1537361"/>
            <a:ext cx="3183948" cy="484166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11DAE96-62D5-24F1-6765-39C4AC8381EC}"/>
              </a:ext>
            </a:extLst>
          </p:cNvPr>
          <p:cNvSpPr txBox="1"/>
          <p:nvPr/>
        </p:nvSpPr>
        <p:spPr>
          <a:xfrm>
            <a:off x="598252" y="3013501"/>
            <a:ext cx="3273355" cy="1191816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latin typeface="Bahnschrift SemiLight" panose="020B0502040204020203" pitchFamily="34" charset="0"/>
              </a:defRPr>
            </a:lvl1pPr>
          </a:lstStyle>
          <a:p>
            <a:r>
              <a:rPr lang="en-GB" dirty="0"/>
              <a:t>Converted the “</a:t>
            </a:r>
            <a:r>
              <a:rPr lang="en-GB" dirty="0" err="1"/>
              <a:t>releasedate</a:t>
            </a:r>
            <a:r>
              <a:rPr lang="en-GB" dirty="0"/>
              <a:t>” column from Text to Date type so all values follow a consistent  (DD-MM-YYYY) format.</a:t>
            </a:r>
          </a:p>
        </p:txBody>
      </p:sp>
      <p:sp>
        <p:nvSpPr>
          <p:cNvPr id="13" name="Arrow: Left 12">
            <a:extLst>
              <a:ext uri="{FF2B5EF4-FFF2-40B4-BE49-F238E27FC236}">
                <a16:creationId xmlns:a16="http://schemas.microsoft.com/office/drawing/2014/main" id="{64381DAB-5064-EEFB-25D8-62C0342D4A4D}"/>
              </a:ext>
            </a:extLst>
          </p:cNvPr>
          <p:cNvSpPr/>
          <p:nvPr/>
        </p:nvSpPr>
        <p:spPr>
          <a:xfrm flipH="1">
            <a:off x="4000652" y="3507268"/>
            <a:ext cx="685800" cy="204281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5807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9DEA6-B6D0-BD0F-4EA2-91FA47FB3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CA817C7-9505-00DF-DAEC-9566C20B9C4A}"/>
              </a:ext>
            </a:extLst>
          </p:cNvPr>
          <p:cNvCxnSpPr>
            <a:cxnSpLocks/>
          </p:cNvCxnSpPr>
          <p:nvPr/>
        </p:nvCxnSpPr>
        <p:spPr>
          <a:xfrm flipV="1">
            <a:off x="213691" y="144117"/>
            <a:ext cx="8731525" cy="34787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223913C-A8E7-5776-AA2B-00FCDF55FC3C}"/>
              </a:ext>
            </a:extLst>
          </p:cNvPr>
          <p:cNvCxnSpPr>
            <a:cxnSpLocks/>
          </p:cNvCxnSpPr>
          <p:nvPr/>
        </p:nvCxnSpPr>
        <p:spPr>
          <a:xfrm flipV="1">
            <a:off x="213690" y="6617804"/>
            <a:ext cx="8731526" cy="34787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7C64BD-5613-F8DC-D532-E31D8B4FAFEB}"/>
              </a:ext>
            </a:extLst>
          </p:cNvPr>
          <p:cNvCxnSpPr/>
          <p:nvPr/>
        </p:nvCxnSpPr>
        <p:spPr>
          <a:xfrm>
            <a:off x="213690" y="178904"/>
            <a:ext cx="0" cy="6473687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2257368-83DB-A9BB-2D70-FC230CE95BCC}"/>
              </a:ext>
            </a:extLst>
          </p:cNvPr>
          <p:cNvCxnSpPr/>
          <p:nvPr/>
        </p:nvCxnSpPr>
        <p:spPr>
          <a:xfrm>
            <a:off x="8945216" y="144117"/>
            <a:ext cx="0" cy="6473687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5F275CE5-04E2-B96A-8C56-BA82418BDE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1191" y="205409"/>
            <a:ext cx="1869118" cy="109317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66FECDC-057E-3B1A-D1F7-D23FA5EB23C1}"/>
              </a:ext>
            </a:extLst>
          </p:cNvPr>
          <p:cNvSpPr txBox="1"/>
          <p:nvPr/>
        </p:nvSpPr>
        <p:spPr>
          <a:xfrm>
            <a:off x="228598" y="795338"/>
            <a:ext cx="65512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/>
            </a:lvl1pPr>
          </a:lstStyle>
          <a:p>
            <a:r>
              <a:rPr lang="en-GB" dirty="0"/>
              <a:t>	4. Convert the time column from text format to a duration 	 	    format that Excel recognizes.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6B2C20-05FB-D859-9FFF-BE4791C9A7B8}"/>
              </a:ext>
            </a:extLst>
          </p:cNvPr>
          <p:cNvSpPr txBox="1"/>
          <p:nvPr/>
        </p:nvSpPr>
        <p:spPr>
          <a:xfrm>
            <a:off x="410525" y="1749704"/>
            <a:ext cx="3584640" cy="646986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latin typeface="Bahnschrift SemiLight" panose="020B0502040204020203" pitchFamily="34" charset="0"/>
              </a:defRPr>
            </a:lvl1pPr>
          </a:lstStyle>
          <a:p>
            <a:r>
              <a:rPr lang="en-GB" dirty="0"/>
              <a:t>Extracted hours and minutes using Text Before and Text After Delimiter.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09E725-D6FC-F506-7AE3-FBD366F16962}"/>
              </a:ext>
            </a:extLst>
          </p:cNvPr>
          <p:cNvSpPr txBox="1"/>
          <p:nvPr/>
        </p:nvSpPr>
        <p:spPr>
          <a:xfrm>
            <a:off x="5077838" y="1749704"/>
            <a:ext cx="3633281" cy="120264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latin typeface="Bahnschrift SemiLight" panose="020B0502040204020203" pitchFamily="34" charset="0"/>
              </a:defRPr>
            </a:lvl1pPr>
          </a:lstStyle>
          <a:p>
            <a:r>
              <a:rPr lang="en-GB" dirty="0"/>
              <a:t>Handled values with only minutes or only hours during extraction. Then merged both columns and renamed the result to “</a:t>
            </a:r>
            <a:r>
              <a:rPr lang="en-GB" dirty="0" err="1"/>
              <a:t>time_duration</a:t>
            </a:r>
            <a:r>
              <a:rPr lang="en-GB" dirty="0"/>
              <a:t>”.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B23486-9752-B6DF-1177-F39B227E920B}"/>
              </a:ext>
            </a:extLst>
          </p:cNvPr>
          <p:cNvSpPr txBox="1"/>
          <p:nvPr/>
        </p:nvSpPr>
        <p:spPr>
          <a:xfrm>
            <a:off x="5200496" y="3808389"/>
            <a:ext cx="3273355" cy="646986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latin typeface="Bahnschrift SemiLight" panose="020B0502040204020203" pitchFamily="34" charset="0"/>
              </a:defRPr>
            </a:lvl1pPr>
          </a:lstStyle>
          <a:p>
            <a:r>
              <a:rPr lang="en-GB" dirty="0"/>
              <a:t>Converted the extracted values into a “Duration” data type.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86C29766-E8A3-AB00-4CDF-4E6C13105829}"/>
              </a:ext>
            </a:extLst>
          </p:cNvPr>
          <p:cNvSpPr/>
          <p:nvPr/>
        </p:nvSpPr>
        <p:spPr>
          <a:xfrm>
            <a:off x="4207528" y="2013002"/>
            <a:ext cx="583660" cy="12039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43B7B315-F02C-04AD-E3E1-2267F1FA1727}"/>
              </a:ext>
            </a:extLst>
          </p:cNvPr>
          <p:cNvSpPr/>
          <p:nvPr/>
        </p:nvSpPr>
        <p:spPr>
          <a:xfrm>
            <a:off x="6779870" y="3127443"/>
            <a:ext cx="114608" cy="476655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7E457E41-3DCB-FA47-5D5C-FAA5F7DEF6DC}"/>
              </a:ext>
            </a:extLst>
          </p:cNvPr>
          <p:cNvSpPr/>
          <p:nvPr/>
        </p:nvSpPr>
        <p:spPr>
          <a:xfrm flipH="1">
            <a:off x="4437301" y="4043916"/>
            <a:ext cx="583660" cy="175931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A645D75-ACCC-BBA1-193A-318BB42765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28" r="2128"/>
          <a:stretch>
            <a:fillRect/>
          </a:stretch>
        </p:blipFill>
        <p:spPr>
          <a:xfrm>
            <a:off x="573934" y="2855967"/>
            <a:ext cx="3492224" cy="320618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238353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A416C-41F4-005D-E48D-B1E391A3C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7D334F0-AD04-EDCB-D9A7-09E1DE35BEBC}"/>
              </a:ext>
            </a:extLst>
          </p:cNvPr>
          <p:cNvCxnSpPr>
            <a:cxnSpLocks/>
          </p:cNvCxnSpPr>
          <p:nvPr/>
        </p:nvCxnSpPr>
        <p:spPr>
          <a:xfrm flipV="1">
            <a:off x="213691" y="144117"/>
            <a:ext cx="8731525" cy="34787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3734BA9-938E-2822-129E-9BED979B34B3}"/>
              </a:ext>
            </a:extLst>
          </p:cNvPr>
          <p:cNvCxnSpPr>
            <a:cxnSpLocks/>
          </p:cNvCxnSpPr>
          <p:nvPr/>
        </p:nvCxnSpPr>
        <p:spPr>
          <a:xfrm flipV="1">
            <a:off x="213690" y="6617804"/>
            <a:ext cx="8731526" cy="34787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477B34C-0F59-72BC-E405-DC77C5CF4D59}"/>
              </a:ext>
            </a:extLst>
          </p:cNvPr>
          <p:cNvCxnSpPr/>
          <p:nvPr/>
        </p:nvCxnSpPr>
        <p:spPr>
          <a:xfrm>
            <a:off x="213690" y="178904"/>
            <a:ext cx="0" cy="6473687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CBD748C-C6BB-AC1C-A2C0-B5EB46123177}"/>
              </a:ext>
            </a:extLst>
          </p:cNvPr>
          <p:cNvCxnSpPr/>
          <p:nvPr/>
        </p:nvCxnSpPr>
        <p:spPr>
          <a:xfrm>
            <a:off x="8945216" y="144117"/>
            <a:ext cx="0" cy="6473687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3B3CBD41-B113-C20D-7374-BE212208A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1191" y="205409"/>
            <a:ext cx="1869118" cy="109317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9172AFA-89A0-6354-A8FA-DDEBC6B0182E}"/>
              </a:ext>
            </a:extLst>
          </p:cNvPr>
          <p:cNvSpPr txBox="1"/>
          <p:nvPr/>
        </p:nvSpPr>
        <p:spPr>
          <a:xfrm>
            <a:off x="243597" y="776739"/>
            <a:ext cx="63747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5. </a:t>
            </a:r>
            <a:r>
              <a:rPr lang="en-GB" dirty="0"/>
              <a:t>Ensure the “price” column is in a numeric format, and 	    	     identify any non-numeric values.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3F7674-4F0D-8393-52AC-2EAF8412D3A9}"/>
              </a:ext>
            </a:extLst>
          </p:cNvPr>
          <p:cNvSpPr txBox="1"/>
          <p:nvPr/>
        </p:nvSpPr>
        <p:spPr>
          <a:xfrm>
            <a:off x="4276654" y="2107370"/>
            <a:ext cx="3719096" cy="9194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dk1"/>
                </a:solidFill>
                <a:latin typeface="Bahnschrift SemiLight" panose="020B0502040204020203" pitchFamily="34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IN" dirty="0"/>
              <a:t>Replaced Non-numeric value like ‘Free’ with numeric value like ‘0’ using “Replace values” function.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B2E8C9-E62A-7A45-7F18-1D1987FB9427}"/>
              </a:ext>
            </a:extLst>
          </p:cNvPr>
          <p:cNvSpPr txBox="1"/>
          <p:nvPr/>
        </p:nvSpPr>
        <p:spPr>
          <a:xfrm>
            <a:off x="4329015" y="4004298"/>
            <a:ext cx="3614373" cy="646986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dk1"/>
                </a:solidFill>
                <a:latin typeface="Bahnschrift SemiLight" panose="020B0502040204020203" pitchFamily="34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IN" dirty="0"/>
              <a:t>Converted “price” column from text to ‘Currency’ format.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EC57642-221D-429E-F212-559BEA5AD53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30"/>
          <a:stretch>
            <a:fillRect/>
          </a:stretch>
        </p:blipFill>
        <p:spPr>
          <a:xfrm>
            <a:off x="778213" y="1857825"/>
            <a:ext cx="2287775" cy="420074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18" name="Arrow: Down 17">
            <a:extLst>
              <a:ext uri="{FF2B5EF4-FFF2-40B4-BE49-F238E27FC236}">
                <a16:creationId xmlns:a16="http://schemas.microsoft.com/office/drawing/2014/main" id="{1849A531-CDEC-EDAE-8F4A-71A487B35EE0}"/>
              </a:ext>
            </a:extLst>
          </p:cNvPr>
          <p:cNvSpPr/>
          <p:nvPr/>
        </p:nvSpPr>
        <p:spPr>
          <a:xfrm>
            <a:off x="6025488" y="3234447"/>
            <a:ext cx="105050" cy="53549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Arrow: Left 18">
            <a:extLst>
              <a:ext uri="{FF2B5EF4-FFF2-40B4-BE49-F238E27FC236}">
                <a16:creationId xmlns:a16="http://schemas.microsoft.com/office/drawing/2014/main" id="{FECF7371-E961-27BF-D337-C5780616F8E7}"/>
              </a:ext>
            </a:extLst>
          </p:cNvPr>
          <p:cNvSpPr/>
          <p:nvPr/>
        </p:nvSpPr>
        <p:spPr>
          <a:xfrm>
            <a:off x="3430983" y="4274797"/>
            <a:ext cx="573932" cy="105987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8230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4C93C-CD80-99AD-56B9-DE9A1D11B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B1A1FFE-0F6E-C35B-2FD6-7F2135ACF0B5}"/>
              </a:ext>
            </a:extLst>
          </p:cNvPr>
          <p:cNvCxnSpPr>
            <a:cxnSpLocks/>
          </p:cNvCxnSpPr>
          <p:nvPr/>
        </p:nvCxnSpPr>
        <p:spPr>
          <a:xfrm flipV="1">
            <a:off x="213691" y="144117"/>
            <a:ext cx="8731525" cy="34787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CB1E1F1-51B3-E985-4958-32713E41B575}"/>
              </a:ext>
            </a:extLst>
          </p:cNvPr>
          <p:cNvCxnSpPr>
            <a:cxnSpLocks/>
          </p:cNvCxnSpPr>
          <p:nvPr/>
        </p:nvCxnSpPr>
        <p:spPr>
          <a:xfrm flipV="1">
            <a:off x="213690" y="6617804"/>
            <a:ext cx="8731526" cy="34787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85ECB2E-9588-00E7-C749-4107CBE76D8D}"/>
              </a:ext>
            </a:extLst>
          </p:cNvPr>
          <p:cNvCxnSpPr/>
          <p:nvPr/>
        </p:nvCxnSpPr>
        <p:spPr>
          <a:xfrm>
            <a:off x="213690" y="178904"/>
            <a:ext cx="0" cy="6473687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9890E80-8A3E-13C9-D4E9-CC242D04A18D}"/>
              </a:ext>
            </a:extLst>
          </p:cNvPr>
          <p:cNvCxnSpPr/>
          <p:nvPr/>
        </p:nvCxnSpPr>
        <p:spPr>
          <a:xfrm>
            <a:off x="8945216" y="144117"/>
            <a:ext cx="0" cy="6473687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7D29A245-49F2-8CB0-A3CC-B3D275B944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1191" y="205409"/>
            <a:ext cx="1869118" cy="10931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2220023-7448-D5A1-6B8B-008871BA7B96}"/>
              </a:ext>
            </a:extLst>
          </p:cNvPr>
          <p:cNvSpPr txBox="1"/>
          <p:nvPr/>
        </p:nvSpPr>
        <p:spPr>
          <a:xfrm>
            <a:off x="671513" y="795338"/>
            <a:ext cx="6374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6. Convert text ratings in the “stars” column to numeric values.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0217B3-FC30-E75A-E896-F22B19915471}"/>
              </a:ext>
            </a:extLst>
          </p:cNvPr>
          <p:cNvSpPr txBox="1"/>
          <p:nvPr/>
        </p:nvSpPr>
        <p:spPr>
          <a:xfrm>
            <a:off x="537186" y="4717038"/>
            <a:ext cx="2126242" cy="715089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dk1"/>
                </a:solidFill>
                <a:latin typeface="Bahnschrift SemiLight" panose="020B0502040204020203" pitchFamily="34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IN" sz="1200" dirty="0"/>
              <a:t>Converted the “stars” column type from text to ‘Decimal Number’ format.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0EC1262-AFE6-A54C-D2F2-500F0DBF58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184" y="1948322"/>
            <a:ext cx="2126244" cy="167392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25" name="Arrow: Right 24">
            <a:extLst>
              <a:ext uri="{FF2B5EF4-FFF2-40B4-BE49-F238E27FC236}">
                <a16:creationId xmlns:a16="http://schemas.microsoft.com/office/drawing/2014/main" id="{6F672AD6-EB57-E779-5956-E270D896E987}"/>
              </a:ext>
            </a:extLst>
          </p:cNvPr>
          <p:cNvSpPr/>
          <p:nvPr/>
        </p:nvSpPr>
        <p:spPr>
          <a:xfrm>
            <a:off x="3058652" y="2314103"/>
            <a:ext cx="529992" cy="19109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Arrow: Left 38">
            <a:extLst>
              <a:ext uri="{FF2B5EF4-FFF2-40B4-BE49-F238E27FC236}">
                <a16:creationId xmlns:a16="http://schemas.microsoft.com/office/drawing/2014/main" id="{45F34C4D-3D3F-A6E6-7A7E-3FDAC64FC4C6}"/>
              </a:ext>
            </a:extLst>
          </p:cNvPr>
          <p:cNvSpPr/>
          <p:nvPr/>
        </p:nvSpPr>
        <p:spPr>
          <a:xfrm flipH="1">
            <a:off x="3662833" y="4983067"/>
            <a:ext cx="607216" cy="183030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8DED3F-B18C-8FEF-C7B5-56AF2FDE4F83}"/>
              </a:ext>
            </a:extLst>
          </p:cNvPr>
          <p:cNvSpPr txBox="1"/>
          <p:nvPr/>
        </p:nvSpPr>
        <p:spPr>
          <a:xfrm>
            <a:off x="3908120" y="1946063"/>
            <a:ext cx="4576670" cy="9194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latin typeface="Bahnschrift SemiLight" panose="020B0502040204020203" pitchFamily="34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GB" dirty="0"/>
              <a:t>Split the stars column using the delimiter ‘out of 5 stars’ to separate ratings and rating counts. After Renaming + Cleaning. Renamed the second column as ‘</a:t>
            </a:r>
            <a:r>
              <a:rPr lang="en-GB" dirty="0" err="1"/>
              <a:t>no.ofRatings</a:t>
            </a:r>
            <a:r>
              <a:rPr lang="en-GB" dirty="0"/>
              <a:t>’ and replaced ‘Not rated yet’ and null values with 0.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28B9A6C-B246-BD8A-CD3C-9615C51D8D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98" r="3205"/>
          <a:stretch>
            <a:fillRect/>
          </a:stretch>
        </p:blipFill>
        <p:spPr>
          <a:xfrm>
            <a:off x="4873953" y="3512941"/>
            <a:ext cx="3321600" cy="269128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3682061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C3C96-E627-3327-967C-5FB0B45F1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19BB1D-BEEF-2634-B76C-945677E37C0F}"/>
              </a:ext>
            </a:extLst>
          </p:cNvPr>
          <p:cNvCxnSpPr>
            <a:cxnSpLocks/>
          </p:cNvCxnSpPr>
          <p:nvPr/>
        </p:nvCxnSpPr>
        <p:spPr>
          <a:xfrm flipV="1">
            <a:off x="213691" y="144117"/>
            <a:ext cx="8731525" cy="34787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B92CD50-E8A6-1278-A547-7F011A13C1BD}"/>
              </a:ext>
            </a:extLst>
          </p:cNvPr>
          <p:cNvCxnSpPr>
            <a:cxnSpLocks/>
          </p:cNvCxnSpPr>
          <p:nvPr/>
        </p:nvCxnSpPr>
        <p:spPr>
          <a:xfrm flipV="1">
            <a:off x="213690" y="6617804"/>
            <a:ext cx="8731526" cy="34787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03E96DF-58CA-4CDF-3642-D5E7C3488F6D}"/>
              </a:ext>
            </a:extLst>
          </p:cNvPr>
          <p:cNvCxnSpPr/>
          <p:nvPr/>
        </p:nvCxnSpPr>
        <p:spPr>
          <a:xfrm>
            <a:off x="213690" y="178904"/>
            <a:ext cx="0" cy="6473687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7CE0A3B-8B3F-E750-8106-A1B3D96EFB57}"/>
              </a:ext>
            </a:extLst>
          </p:cNvPr>
          <p:cNvCxnSpPr/>
          <p:nvPr/>
        </p:nvCxnSpPr>
        <p:spPr>
          <a:xfrm>
            <a:off x="8945216" y="144117"/>
            <a:ext cx="0" cy="6473687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1014E02D-0FC7-C964-F4FB-8C8CB2E8DE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1191" y="205409"/>
            <a:ext cx="1869118" cy="109317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AA1638D-15FA-CC73-C707-DFA5712A223D}"/>
              </a:ext>
            </a:extLst>
          </p:cNvPr>
          <p:cNvSpPr txBox="1"/>
          <p:nvPr/>
        </p:nvSpPr>
        <p:spPr>
          <a:xfrm>
            <a:off x="4858877" y="1868034"/>
            <a:ext cx="3981449" cy="646986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dk1"/>
                </a:solidFill>
                <a:latin typeface="Bahnschrift SemiLight" panose="020B0502040204020203" pitchFamily="34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GB" dirty="0"/>
              <a:t>Removed the prefix “</a:t>
            </a:r>
            <a:r>
              <a:rPr lang="en-GB" dirty="0" err="1"/>
              <a:t>Narratedby</a:t>
            </a:r>
            <a:r>
              <a:rPr lang="en-GB" dirty="0"/>
              <a:t>:” before Separating.</a:t>
            </a:r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680D68E-C4AC-0F24-7ACD-710613441D28}"/>
              </a:ext>
            </a:extLst>
          </p:cNvPr>
          <p:cNvSpPr txBox="1"/>
          <p:nvPr/>
        </p:nvSpPr>
        <p:spPr>
          <a:xfrm>
            <a:off x="747701" y="4568664"/>
            <a:ext cx="3161489" cy="1191816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dk1"/>
                </a:solidFill>
                <a:latin typeface="Bahnschrift SemiLight" panose="020B0502040204020203" pitchFamily="34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GB" dirty="0"/>
              <a:t>Used “Split Column by Delimiter (Comma)” to separate multiple narrators into columns.</a:t>
            </a:r>
          </a:p>
        </p:txBody>
      </p:sp>
      <p:sp>
        <p:nvSpPr>
          <p:cNvPr id="24" name="Arrow: Left 23">
            <a:extLst>
              <a:ext uri="{FF2B5EF4-FFF2-40B4-BE49-F238E27FC236}">
                <a16:creationId xmlns:a16="http://schemas.microsoft.com/office/drawing/2014/main" id="{8206076C-3C5E-EF01-B72C-2262DD8B5C4B}"/>
              </a:ext>
            </a:extLst>
          </p:cNvPr>
          <p:cNvSpPr/>
          <p:nvPr/>
        </p:nvSpPr>
        <p:spPr>
          <a:xfrm flipH="1">
            <a:off x="4133471" y="5164572"/>
            <a:ext cx="725406" cy="136187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Arrow: Left 27">
            <a:extLst>
              <a:ext uri="{FF2B5EF4-FFF2-40B4-BE49-F238E27FC236}">
                <a16:creationId xmlns:a16="http://schemas.microsoft.com/office/drawing/2014/main" id="{1874A558-9E69-5BE6-81EE-5753C0F6B9DB}"/>
              </a:ext>
            </a:extLst>
          </p:cNvPr>
          <p:cNvSpPr/>
          <p:nvPr/>
        </p:nvSpPr>
        <p:spPr>
          <a:xfrm>
            <a:off x="3735938" y="2133649"/>
            <a:ext cx="889564" cy="194256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92C078-749B-4871-EC89-5E812A32E7BA}"/>
              </a:ext>
            </a:extLst>
          </p:cNvPr>
          <p:cNvSpPr txBox="1"/>
          <p:nvPr/>
        </p:nvSpPr>
        <p:spPr>
          <a:xfrm>
            <a:off x="238010" y="787421"/>
            <a:ext cx="63747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7. </a:t>
            </a:r>
            <a:r>
              <a:rPr lang="en-GB" dirty="0"/>
              <a:t>Split the </a:t>
            </a:r>
            <a:r>
              <a:rPr lang="en-GB" dirty="0" err="1"/>
              <a:t>narratedby</a:t>
            </a:r>
            <a:r>
              <a:rPr lang="en-GB" dirty="0"/>
              <a:t> column into multiple columns if 	      	     multiple narrators are listed.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106D05B-1424-1D55-C3B6-1CB0C4AB0B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2533" y="1585669"/>
            <a:ext cx="2015136" cy="246462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2FBFAA4-F43E-41AA-9A94-587F37A949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1604" y="3335525"/>
            <a:ext cx="3174695" cy="291304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0102988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00600-0877-1BCA-5678-386FDB7E2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1D76B39-CF15-08B6-E381-0F091D696FEF}"/>
              </a:ext>
            </a:extLst>
          </p:cNvPr>
          <p:cNvCxnSpPr>
            <a:cxnSpLocks/>
          </p:cNvCxnSpPr>
          <p:nvPr/>
        </p:nvCxnSpPr>
        <p:spPr>
          <a:xfrm flipV="1">
            <a:off x="213691" y="144117"/>
            <a:ext cx="8731525" cy="34787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DE11594-E1CA-A516-8A79-0B0126A09401}"/>
              </a:ext>
            </a:extLst>
          </p:cNvPr>
          <p:cNvCxnSpPr>
            <a:cxnSpLocks/>
          </p:cNvCxnSpPr>
          <p:nvPr/>
        </p:nvCxnSpPr>
        <p:spPr>
          <a:xfrm flipV="1">
            <a:off x="213690" y="6617804"/>
            <a:ext cx="8731526" cy="34787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04E038A-E4A3-72EE-499F-C5A928BE559C}"/>
              </a:ext>
            </a:extLst>
          </p:cNvPr>
          <p:cNvCxnSpPr/>
          <p:nvPr/>
        </p:nvCxnSpPr>
        <p:spPr>
          <a:xfrm>
            <a:off x="213690" y="178904"/>
            <a:ext cx="0" cy="6473687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1D7DF33-6BED-2DE5-349D-A5C0D5D66620}"/>
              </a:ext>
            </a:extLst>
          </p:cNvPr>
          <p:cNvCxnSpPr/>
          <p:nvPr/>
        </p:nvCxnSpPr>
        <p:spPr>
          <a:xfrm>
            <a:off x="8945216" y="144117"/>
            <a:ext cx="0" cy="6473687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F07344B8-63C3-C823-29FB-EA7F698C26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1191" y="205409"/>
            <a:ext cx="1869118" cy="109317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774EC4A-F5B3-40A4-BADA-B62D06D8E056}"/>
              </a:ext>
            </a:extLst>
          </p:cNvPr>
          <p:cNvSpPr txBox="1"/>
          <p:nvPr/>
        </p:nvSpPr>
        <p:spPr>
          <a:xfrm>
            <a:off x="449356" y="2822138"/>
            <a:ext cx="3283631" cy="1191816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dk1"/>
                </a:solidFill>
                <a:latin typeface="Bahnschrift SemiLight" panose="020B0502040204020203" pitchFamily="34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IN" dirty="0"/>
              <a:t>Selected both columns, then used “Merge Columns” using separator “, ” and named it “</a:t>
            </a:r>
            <a:r>
              <a:rPr lang="en-IN" dirty="0" err="1"/>
              <a:t>releaseinfo</a:t>
            </a:r>
            <a:r>
              <a:rPr lang="en-IN" dirty="0"/>
              <a:t>”.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49C57C-F4BE-4AA3-F8AD-64C8739B4B83}"/>
              </a:ext>
            </a:extLst>
          </p:cNvPr>
          <p:cNvSpPr txBox="1"/>
          <p:nvPr/>
        </p:nvSpPr>
        <p:spPr>
          <a:xfrm>
            <a:off x="408013" y="787780"/>
            <a:ext cx="71844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   8. </a:t>
            </a:r>
            <a:r>
              <a:rPr lang="en-GB" dirty="0"/>
              <a:t>Merge the </a:t>
            </a:r>
            <a:r>
              <a:rPr lang="en-GB" dirty="0" err="1"/>
              <a:t>releasedate</a:t>
            </a:r>
            <a:r>
              <a:rPr lang="en-GB" dirty="0"/>
              <a:t> and language columns into a single new 	 	  	column named </a:t>
            </a:r>
            <a:r>
              <a:rPr lang="en-GB" dirty="0" err="1"/>
              <a:t>releaseinfo</a:t>
            </a:r>
            <a:r>
              <a:rPr lang="en-GB" dirty="0"/>
              <a:t> with the format "DD-MM-YYYY, Language."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D2F58DD-BD73-286A-E877-67BF49387D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54"/>
          <a:stretch>
            <a:fillRect/>
          </a:stretch>
        </p:blipFill>
        <p:spPr>
          <a:xfrm>
            <a:off x="4168667" y="2204117"/>
            <a:ext cx="4525977" cy="298054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5802344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17AC1-339A-7D26-8054-4CD435F20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61D6B4D-0827-200C-4D0B-D225A6972756}"/>
              </a:ext>
            </a:extLst>
          </p:cNvPr>
          <p:cNvCxnSpPr>
            <a:cxnSpLocks/>
          </p:cNvCxnSpPr>
          <p:nvPr/>
        </p:nvCxnSpPr>
        <p:spPr>
          <a:xfrm flipV="1">
            <a:off x="213691" y="144117"/>
            <a:ext cx="8731525" cy="34787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5FF0223-545A-F654-A780-F62D66571231}"/>
              </a:ext>
            </a:extLst>
          </p:cNvPr>
          <p:cNvCxnSpPr>
            <a:cxnSpLocks/>
          </p:cNvCxnSpPr>
          <p:nvPr/>
        </p:nvCxnSpPr>
        <p:spPr>
          <a:xfrm flipV="1">
            <a:off x="213690" y="6617804"/>
            <a:ext cx="8731526" cy="34787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60D8575-9EFC-A6FA-E5C5-9631C5FFE788}"/>
              </a:ext>
            </a:extLst>
          </p:cNvPr>
          <p:cNvCxnSpPr/>
          <p:nvPr/>
        </p:nvCxnSpPr>
        <p:spPr>
          <a:xfrm>
            <a:off x="213690" y="178904"/>
            <a:ext cx="0" cy="6473687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7F97AA5-C339-D64C-7994-1A2C61E72F09}"/>
              </a:ext>
            </a:extLst>
          </p:cNvPr>
          <p:cNvCxnSpPr/>
          <p:nvPr/>
        </p:nvCxnSpPr>
        <p:spPr>
          <a:xfrm>
            <a:off x="8945216" y="144117"/>
            <a:ext cx="0" cy="6473687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91BCC1FB-313F-0137-D75F-F403B7D0A6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1191" y="205409"/>
            <a:ext cx="1869118" cy="109317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8C74CE6-795F-F62F-51BC-E162424C2476}"/>
              </a:ext>
            </a:extLst>
          </p:cNvPr>
          <p:cNvSpPr txBox="1"/>
          <p:nvPr/>
        </p:nvSpPr>
        <p:spPr>
          <a:xfrm>
            <a:off x="1586500" y="2836189"/>
            <a:ext cx="2656200" cy="1736646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dk1"/>
                </a:solidFill>
                <a:latin typeface="Bahnschrift SemiLight" panose="020B0502040204020203" pitchFamily="34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IN" dirty="0"/>
              <a:t>To Ensure that all currency values are formatted consistently with two decimal places, “price” column must be in “Currency” format.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817DE7-31B8-71E9-C253-76D77E5A5201}"/>
              </a:ext>
            </a:extLst>
          </p:cNvPr>
          <p:cNvSpPr txBox="1"/>
          <p:nvPr/>
        </p:nvSpPr>
        <p:spPr>
          <a:xfrm>
            <a:off x="408013" y="787780"/>
            <a:ext cx="63747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   9. </a:t>
            </a:r>
            <a:r>
              <a:rPr lang="en-GB" dirty="0"/>
              <a:t>Ensure all currency values in the price column are formatted 	 consistently with two decimal places.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5DC05B6-AA5D-EC19-7C22-894165D118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8253" y="2138460"/>
            <a:ext cx="2179554" cy="358110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1326512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42CBE-F9BB-9A99-EC35-AD1C0ED9E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3AB49B8-974F-4D4D-C5C4-2F3E04567A0A}"/>
              </a:ext>
            </a:extLst>
          </p:cNvPr>
          <p:cNvCxnSpPr>
            <a:cxnSpLocks/>
          </p:cNvCxnSpPr>
          <p:nvPr/>
        </p:nvCxnSpPr>
        <p:spPr>
          <a:xfrm flipV="1">
            <a:off x="213691" y="144117"/>
            <a:ext cx="8731525" cy="34787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71D3746-EDAE-2BFE-8373-F79E06D9D838}"/>
              </a:ext>
            </a:extLst>
          </p:cNvPr>
          <p:cNvCxnSpPr>
            <a:cxnSpLocks/>
          </p:cNvCxnSpPr>
          <p:nvPr/>
        </p:nvCxnSpPr>
        <p:spPr>
          <a:xfrm flipV="1">
            <a:off x="213690" y="6617804"/>
            <a:ext cx="8731526" cy="34787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6F84F46-D250-26EF-66DD-C8477C484E70}"/>
              </a:ext>
            </a:extLst>
          </p:cNvPr>
          <p:cNvCxnSpPr/>
          <p:nvPr/>
        </p:nvCxnSpPr>
        <p:spPr>
          <a:xfrm>
            <a:off x="213690" y="178904"/>
            <a:ext cx="0" cy="6473687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5307DDB-0B1A-5CC5-596B-FB699679A4FB}"/>
              </a:ext>
            </a:extLst>
          </p:cNvPr>
          <p:cNvCxnSpPr/>
          <p:nvPr/>
        </p:nvCxnSpPr>
        <p:spPr>
          <a:xfrm>
            <a:off x="8945216" y="144117"/>
            <a:ext cx="0" cy="6473687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DCFA0358-68C2-8D1F-7046-EAEE4C740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3914" y="250386"/>
            <a:ext cx="1869118" cy="10931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9DD8650-921F-3B1A-0BB0-B7785D773E53}"/>
              </a:ext>
            </a:extLst>
          </p:cNvPr>
          <p:cNvSpPr txBox="1"/>
          <p:nvPr/>
        </p:nvSpPr>
        <p:spPr>
          <a:xfrm>
            <a:off x="3793788" y="1409751"/>
            <a:ext cx="3759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Aptos" panose="020B0004020202020204" pitchFamily="34" charset="0"/>
              </a:rPr>
              <a:t>Project Summary</a:t>
            </a:r>
            <a:r>
              <a:rPr lang="en-GB" sz="3200" b="1" dirty="0">
                <a:latin typeface="Aptos" panose="020B0004020202020204" pitchFamily="34" charset="0"/>
              </a:rPr>
              <a:t> </a:t>
            </a:r>
            <a:endParaRPr lang="en-IN" sz="3200" b="1" dirty="0"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0B88DB-503B-296A-DC50-415C8FBD5643}"/>
              </a:ext>
            </a:extLst>
          </p:cNvPr>
          <p:cNvSpPr txBox="1"/>
          <p:nvPr/>
        </p:nvSpPr>
        <p:spPr>
          <a:xfrm>
            <a:off x="3793788" y="2090707"/>
            <a:ext cx="461091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In this project, the Audible dataset was cleaned using Power Query by correcting data types, separating combined text fields, handling missing and invalid values, and standardizing formats.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Power Query made it easy to transform messy data into a clean and structured format using simple, step-by-step transformations, making the dataset ready for further analysis and reporting.</a:t>
            </a:r>
            <a:endParaRPr lang="en-IN" dirty="0">
              <a:latin typeface="Bahnschrift SemiLight" panose="020B0502040204020203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0C857AF-C21E-9B07-CC4C-8C0E9622B3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783" y="2283068"/>
            <a:ext cx="4656801" cy="3104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8910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297B5-191A-D019-99EF-61F1B8206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768C4C-FB9D-B081-10CA-15A60B081291}"/>
              </a:ext>
            </a:extLst>
          </p:cNvPr>
          <p:cNvCxnSpPr>
            <a:cxnSpLocks/>
          </p:cNvCxnSpPr>
          <p:nvPr/>
        </p:nvCxnSpPr>
        <p:spPr>
          <a:xfrm flipV="1">
            <a:off x="213691" y="144117"/>
            <a:ext cx="8731525" cy="34787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889F2A2-8587-98B9-E258-80B072D3FAA8}"/>
              </a:ext>
            </a:extLst>
          </p:cNvPr>
          <p:cNvCxnSpPr>
            <a:cxnSpLocks/>
          </p:cNvCxnSpPr>
          <p:nvPr/>
        </p:nvCxnSpPr>
        <p:spPr>
          <a:xfrm flipV="1">
            <a:off x="213690" y="6617804"/>
            <a:ext cx="8731526" cy="34787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61F8E12-DA6A-C612-8CCB-A5D9BFB3D5C2}"/>
              </a:ext>
            </a:extLst>
          </p:cNvPr>
          <p:cNvCxnSpPr/>
          <p:nvPr/>
        </p:nvCxnSpPr>
        <p:spPr>
          <a:xfrm>
            <a:off x="213690" y="178904"/>
            <a:ext cx="0" cy="6473687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B91E3E1-4B32-CB7B-3CC0-30B30065771A}"/>
              </a:ext>
            </a:extLst>
          </p:cNvPr>
          <p:cNvCxnSpPr/>
          <p:nvPr/>
        </p:nvCxnSpPr>
        <p:spPr>
          <a:xfrm>
            <a:off x="8945216" y="144117"/>
            <a:ext cx="0" cy="6473687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2986BF6-D73F-CF4D-0584-840D59E10494}"/>
              </a:ext>
            </a:extLst>
          </p:cNvPr>
          <p:cNvSpPr txBox="1"/>
          <p:nvPr/>
        </p:nvSpPr>
        <p:spPr>
          <a:xfrm>
            <a:off x="572874" y="1891293"/>
            <a:ext cx="27102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latin typeface="Algerian" panose="04020705040A02060702" pitchFamily="82" charset="0"/>
              </a:rPr>
              <a:t>Thank You</a:t>
            </a:r>
            <a:endParaRPr lang="en-IN" sz="3600" b="1" dirty="0">
              <a:latin typeface="Algerian" panose="04020705040A02060702" pitchFamily="8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0BABD5-5427-F2B7-11A3-53D0DB2F28D3}"/>
              </a:ext>
            </a:extLst>
          </p:cNvPr>
          <p:cNvSpPr txBox="1"/>
          <p:nvPr/>
        </p:nvSpPr>
        <p:spPr>
          <a:xfrm>
            <a:off x="572874" y="2581944"/>
            <a:ext cx="22189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Bahnschrift SemiLight" panose="020B0502040204020203" pitchFamily="34" charset="0"/>
              </a:rPr>
              <a:t>LET’S CONNECT ON: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7CDFFA-EDCD-5B82-83D6-1978A2546FBC}"/>
              </a:ext>
            </a:extLst>
          </p:cNvPr>
          <p:cNvSpPr txBox="1"/>
          <p:nvPr/>
        </p:nvSpPr>
        <p:spPr>
          <a:xfrm>
            <a:off x="1022170" y="3223406"/>
            <a:ext cx="36083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Bahnschrift SemiLight" panose="020B0502040204020203" pitchFamily="34" charset="0"/>
                <a:hlinkClick r:id="rId2"/>
              </a:rPr>
              <a:t>https://github.com/lakshyadubey1</a:t>
            </a:r>
            <a:endParaRPr lang="en-IN" dirty="0">
              <a:latin typeface="Bahnschrift SemiLight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46FD81-AA06-1A8E-4C0F-1EDA771B9F03}"/>
              </a:ext>
            </a:extLst>
          </p:cNvPr>
          <p:cNvSpPr txBox="1"/>
          <p:nvPr/>
        </p:nvSpPr>
        <p:spPr>
          <a:xfrm>
            <a:off x="1022170" y="3627340"/>
            <a:ext cx="38013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IN" dirty="0">
                <a:hlinkClick r:id="rId3"/>
              </a:rPr>
              <a:t>www.linkedin.com/in/lakshyadubey45</a:t>
            </a:r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7FE9E6F-C960-3142-B8C0-ADD36BC382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158" y="3671660"/>
            <a:ext cx="325012" cy="32501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4555F32-7538-2031-5F2A-0BBC49B3513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0002" r="-3"/>
          <a:stretch>
            <a:fillRect/>
          </a:stretch>
        </p:blipFill>
        <p:spPr>
          <a:xfrm>
            <a:off x="690361" y="3253569"/>
            <a:ext cx="324356" cy="32435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250385D-BC5F-D59A-552E-BC714ED9430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3338" t="19055" r="2539"/>
          <a:stretch>
            <a:fillRect/>
          </a:stretch>
        </p:blipFill>
        <p:spPr>
          <a:xfrm>
            <a:off x="4687956" y="1371600"/>
            <a:ext cx="4163380" cy="5091884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74D73014-A64A-E353-3181-2F8E730669D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28590" y="472372"/>
            <a:ext cx="2895757" cy="1418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0099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819</TotalTime>
  <Words>637</Words>
  <Application>Microsoft Office PowerPoint</Application>
  <PresentationFormat>On-screen Show (4:3)</PresentationFormat>
  <Paragraphs>53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Algerian</vt:lpstr>
      <vt:lpstr>Aptos</vt:lpstr>
      <vt:lpstr>Arial</vt:lpstr>
      <vt:lpstr>Bahnschrift SemiLight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sahil thakur</dc:creator>
  <cp:keywords/>
  <dc:description>generated using python-pptx</dc:description>
  <cp:lastModifiedBy>sahil thakur</cp:lastModifiedBy>
  <cp:revision>9</cp:revision>
  <dcterms:created xsi:type="dcterms:W3CDTF">2013-01-27T09:14:16Z</dcterms:created>
  <dcterms:modified xsi:type="dcterms:W3CDTF">2026-02-25T18:56:25Z</dcterms:modified>
  <cp:category/>
</cp:coreProperties>
</file>